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_1_Inter_Regular.fntdata"/><Relationship Id="rId17" Type="http://schemas.openxmlformats.org/officeDocument/2006/relationships/font" Target="fonts/Font_2_Inter_Bold.fntdata"/><Relationship Id="rId18" Type="http://schemas.openxmlformats.org/officeDocument/2006/relationships/font" Target="fonts/Font_3_Inter_Italic.fntdata"/><Relationship Id="rId19" Type="http://schemas.openxmlformats.org/officeDocument/2006/relationships/font" Target="fonts/Font_4_Inter_BoldItalic.fntdata"/><Relationship Id="rId20" Type="http://schemas.openxmlformats.org/officeDocument/2006/relationships/font" Target="fonts/Font_5_Urbanist_Regular.fntdata"/><Relationship Id="rId21" Type="http://schemas.openxmlformats.org/officeDocument/2006/relationships/font" Target="fonts/Font_6_Urbanist_Bold.fntdata"/><Relationship Id="rId22" Type="http://schemas.openxmlformats.org/officeDocument/2006/relationships/font" Target="fonts/Font_7_Urbanist_Italic.fntdata"/><Relationship Id="rId23" Type="http://schemas.openxmlformats.org/officeDocument/2006/relationships/font" Target="fonts/Font_8_Urbanist_BoldItalic.fntdata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CF4BDC-C789-435F-BC52-AF93BC9A39E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E7BBC5-8C8D-4AE8-8F11-3AD78DAB63F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C5AB4D-CB0C-4C1B-A8B2-B0D599C19BF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33279E9-C765-4DCE-9531-458821BAA61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CD58FD-FECD-4E5F-A923-09BD97B6903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es-SV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B4D03D4-943D-4234-BA5E-3D2666B77C9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22243D-CF04-4349-A3DF-E6E46B6E675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807630-BA13-4B78-A03E-BF764282DD5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6082AE-B14A-4C39-9334-6F770D3B70A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A9A49D-951D-4F05-8A14-E99368C620D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SV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SV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FB6ECB-8E2F-47AD-AE13-40915F024A9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Google Shape;85;p13"/>
          <p:cNvSpPr/>
          <p:nvPr/>
        </p:nvSpPr>
        <p:spPr>
          <a:xfrm>
            <a:off x="581040" y="6419880"/>
            <a:ext cx="2695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CONSULTORÍA ESTRATÉGICA UI/UX | 2024</a:t>
            </a:r>
            <a:endParaRPr lang="es-SV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3"/>
          <p:cNvSpPr/>
          <p:nvPr/>
        </p:nvSpPr>
        <p:spPr>
          <a:xfrm>
            <a:off x="305280" y="581040"/>
            <a:ext cx="1158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Wireframes vs. </a:t>
            </a:r>
            <a:r>
              <a:rPr lang="en-US" sz="6000" b="1" u="none" strike="noStrike">
                <a:solidFill>
                  <a:srgbClr val="22D3EE"/>
                </a:solidFill>
                <a:effectLst/>
                <a:uFillTx/>
                <a:latin typeface="Urbanist"/>
                <a:ea typeface="Urbanist"/>
              </a:rPr>
              <a:t>Mockups</a:t>
            </a:r>
            <a:endParaRPr lang="es-SV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3"/>
          <p:cNvSpPr/>
          <p:nvPr/>
        </p:nvSpPr>
        <p:spPr>
          <a:xfrm>
            <a:off x="2286000" y="1685880"/>
            <a:ext cx="7619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9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Guía Estratégica: Optimizando el ciclo de diseño y desarrollo de productos digitales.</a:t>
            </a:r>
            <a:endParaRPr lang="es-SV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92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93;p14" descr="image.png"/>
          <p:cNvPicPr/>
          <p:nvPr/>
        </p:nvPicPr>
        <p:blipFill>
          <a:blip r:embed="rId2"/>
          <a:stretch/>
        </p:blipFill>
        <p:spPr>
          <a:xfrm>
            <a:off x="581040" y="1620000"/>
            <a:ext cx="3485880" cy="45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94;p14" descr="image.png"/>
          <p:cNvPicPr/>
          <p:nvPr/>
        </p:nvPicPr>
        <p:blipFill>
          <a:blip r:embed="rId3"/>
          <a:stretch/>
        </p:blipFill>
        <p:spPr>
          <a:xfrm>
            <a:off x="4352760" y="2424960"/>
            <a:ext cx="3485880" cy="28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95;p14" descr="image.png"/>
          <p:cNvPicPr/>
          <p:nvPr/>
        </p:nvPicPr>
        <p:blipFill>
          <a:blip r:embed="rId4"/>
          <a:stretch/>
        </p:blipFill>
        <p:spPr>
          <a:xfrm>
            <a:off x="8124840" y="2424960"/>
            <a:ext cx="3485880" cy="284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Google Shape;96;p14"/>
          <p:cNvSpPr/>
          <p:nvPr/>
        </p:nvSpPr>
        <p:spPr>
          <a:xfrm>
            <a:off x="903960" y="3567960"/>
            <a:ext cx="2840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Estructura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7;p14"/>
          <p:cNvSpPr/>
          <p:nvPr/>
        </p:nvSpPr>
        <p:spPr>
          <a:xfrm>
            <a:off x="971640" y="3787200"/>
            <a:ext cx="2704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Los Wireframes actúan como el plano funcional, eliminando el "ruido" visual para validar flujos.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8;p14"/>
          <p:cNvSpPr/>
          <p:nvPr/>
        </p:nvSpPr>
        <p:spPr>
          <a:xfrm>
            <a:off x="4675680" y="3567960"/>
            <a:ext cx="2840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Estética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9;p14"/>
          <p:cNvSpPr/>
          <p:nvPr/>
        </p:nvSpPr>
        <p:spPr>
          <a:xfrm>
            <a:off x="4743360" y="3787200"/>
            <a:ext cx="270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Los Mockups definen la identidad de marca y la fidelidad visual antes de la implementación.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0;p14"/>
          <p:cNvSpPr/>
          <p:nvPr/>
        </p:nvSpPr>
        <p:spPr>
          <a:xfrm>
            <a:off x="8447760" y="3567960"/>
            <a:ext cx="2840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Eficiencia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1;p14"/>
          <p:cNvSpPr/>
          <p:nvPr/>
        </p:nvSpPr>
        <p:spPr>
          <a:xfrm>
            <a:off x="8515440" y="3787200"/>
            <a:ext cx="270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La distinción clara entre fases reduce el tiempo de desarrollo en un 25% al evitar cambios costosos.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Google Shape;102;p14" descr="image.png"/>
          <p:cNvPicPr/>
          <p:nvPr/>
        </p:nvPicPr>
        <p:blipFill>
          <a:blip r:embed="rId5"/>
          <a:stretch/>
        </p:blipFill>
        <p:spPr>
          <a:xfrm>
            <a:off x="2066760" y="2863080"/>
            <a:ext cx="51408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3;p14" descr="image.png"/>
          <p:cNvPicPr/>
          <p:nvPr/>
        </p:nvPicPr>
        <p:blipFill>
          <a:blip r:embed="rId6"/>
          <a:stretch/>
        </p:blipFill>
        <p:spPr>
          <a:xfrm>
            <a:off x="5867280" y="28630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04;p14" descr="image.png"/>
          <p:cNvPicPr/>
          <p:nvPr/>
        </p:nvPicPr>
        <p:blipFill>
          <a:blip r:embed="rId7"/>
          <a:stretch/>
        </p:blipFill>
        <p:spPr>
          <a:xfrm>
            <a:off x="9639360" y="28630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5;p14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Resumen Ejecutivo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6;p14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11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Google Shape;112;p15"/>
          <p:cNvSpPr/>
          <p:nvPr/>
        </p:nvSpPr>
        <p:spPr>
          <a:xfrm>
            <a:off x="1607760" y="3773520"/>
            <a:ext cx="151920" cy="151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3;p15"/>
          <p:cNvSpPr/>
          <p:nvPr/>
        </p:nvSpPr>
        <p:spPr>
          <a:xfrm>
            <a:off x="3813840" y="3773520"/>
            <a:ext cx="151920" cy="151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4;p15"/>
          <p:cNvSpPr/>
          <p:nvPr/>
        </p:nvSpPr>
        <p:spPr>
          <a:xfrm>
            <a:off x="6019560" y="3773520"/>
            <a:ext cx="151920" cy="151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5;p15"/>
          <p:cNvSpPr/>
          <p:nvPr/>
        </p:nvSpPr>
        <p:spPr>
          <a:xfrm>
            <a:off x="8225640" y="3773520"/>
            <a:ext cx="151920" cy="151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6;p15"/>
          <p:cNvSpPr/>
          <p:nvPr/>
        </p:nvSpPr>
        <p:spPr>
          <a:xfrm>
            <a:off x="10431360" y="3773520"/>
            <a:ext cx="151920" cy="151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7;p15"/>
          <p:cNvSpPr/>
          <p:nvPr/>
        </p:nvSpPr>
        <p:spPr>
          <a:xfrm>
            <a:off x="581040" y="3849840"/>
            <a:ext cx="11029680" cy="1872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8;p15"/>
          <p:cNvSpPr/>
          <p:nvPr/>
        </p:nvSpPr>
        <p:spPr>
          <a:xfrm>
            <a:off x="684000" y="4135680"/>
            <a:ext cx="19998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Ideación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9;p15"/>
          <p:cNvSpPr/>
          <p:nvPr/>
        </p:nvSpPr>
        <p:spPr>
          <a:xfrm>
            <a:off x="731520" y="4354560"/>
            <a:ext cx="190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Sketching y flujo de usuario.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0;p15"/>
          <p:cNvSpPr/>
          <p:nvPr/>
        </p:nvSpPr>
        <p:spPr>
          <a:xfrm>
            <a:off x="2889720" y="2796480"/>
            <a:ext cx="19998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Estructura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1;p15"/>
          <p:cNvSpPr/>
          <p:nvPr/>
        </p:nvSpPr>
        <p:spPr>
          <a:xfrm>
            <a:off x="2937600" y="3015720"/>
            <a:ext cx="190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Wireframes: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Baja fidelidad (B&amp;W).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2;p15"/>
          <p:cNvSpPr/>
          <p:nvPr/>
        </p:nvSpPr>
        <p:spPr>
          <a:xfrm>
            <a:off x="5095800" y="4135680"/>
            <a:ext cx="19998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Visual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3;p15"/>
          <p:cNvSpPr/>
          <p:nvPr/>
        </p:nvSpPr>
        <p:spPr>
          <a:xfrm>
            <a:off x="5143320" y="4354560"/>
            <a:ext cx="190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Mockups: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Estilo y Branding.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24;p15"/>
          <p:cNvSpPr/>
          <p:nvPr/>
        </p:nvSpPr>
        <p:spPr>
          <a:xfrm>
            <a:off x="7301520" y="3070800"/>
            <a:ext cx="19998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Validación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5;p15"/>
          <p:cNvSpPr/>
          <p:nvPr/>
        </p:nvSpPr>
        <p:spPr>
          <a:xfrm>
            <a:off x="7349400" y="3289680"/>
            <a:ext cx="190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Prototipos interactivos.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6;p15"/>
          <p:cNvSpPr/>
          <p:nvPr/>
        </p:nvSpPr>
        <p:spPr>
          <a:xfrm>
            <a:off x="9507600" y="4135680"/>
            <a:ext cx="19998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Entrega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7;p15"/>
          <p:cNvSpPr/>
          <p:nvPr/>
        </p:nvSpPr>
        <p:spPr>
          <a:xfrm>
            <a:off x="9555120" y="4354560"/>
            <a:ext cx="190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Handoff a desarrollo.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8;p15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El diseño evoluciona de la lógica a la fidelidad visual.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9;p15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34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35;p16" descr="image.png"/>
          <p:cNvPicPr/>
          <p:nvPr/>
        </p:nvPicPr>
        <p:blipFill>
          <a:blip r:embed="rId2"/>
          <a:stretch/>
        </p:blipFill>
        <p:spPr>
          <a:xfrm>
            <a:off x="6381720" y="1944720"/>
            <a:ext cx="522900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136;p16" descr="image.png"/>
          <p:cNvPicPr/>
          <p:nvPr/>
        </p:nvPicPr>
        <p:blipFill>
          <a:blip r:embed="rId3"/>
          <a:stretch/>
        </p:blipFill>
        <p:spPr>
          <a:xfrm>
            <a:off x="6381720" y="1944720"/>
            <a:ext cx="522900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37;p16"/>
          <p:cNvSpPr/>
          <p:nvPr/>
        </p:nvSpPr>
        <p:spPr>
          <a:xfrm>
            <a:off x="485640" y="316296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8;p16"/>
          <p:cNvSpPr/>
          <p:nvPr/>
        </p:nvSpPr>
        <p:spPr>
          <a:xfrm>
            <a:off x="581040" y="3164040"/>
            <a:ext cx="52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Propósito: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Definir la jerarquía de información y navegación.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9;p16"/>
          <p:cNvSpPr/>
          <p:nvPr/>
        </p:nvSpPr>
        <p:spPr>
          <a:xfrm>
            <a:off x="485640" y="343728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0;p16"/>
          <p:cNvSpPr/>
          <p:nvPr/>
        </p:nvSpPr>
        <p:spPr>
          <a:xfrm>
            <a:off x="581040" y="3438360"/>
            <a:ext cx="52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Fidelidad: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Baja. Escala de grises, cajas de texto y placeholders.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1;p16"/>
          <p:cNvSpPr/>
          <p:nvPr/>
        </p:nvSpPr>
        <p:spPr>
          <a:xfrm>
            <a:off x="485640" y="371160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2;p16"/>
          <p:cNvSpPr/>
          <p:nvPr/>
        </p:nvSpPr>
        <p:spPr>
          <a:xfrm>
            <a:off x="581040" y="3712680"/>
            <a:ext cx="52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Foco: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Usabilidad y arquitectura de la información (IA).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3;p16"/>
          <p:cNvSpPr/>
          <p:nvPr/>
        </p:nvSpPr>
        <p:spPr>
          <a:xfrm>
            <a:off x="485640" y="398592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4;p16"/>
          <p:cNvSpPr/>
          <p:nvPr/>
        </p:nvSpPr>
        <p:spPr>
          <a:xfrm>
            <a:off x="581040" y="3987000"/>
            <a:ext cx="522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Valor: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Permite iteraciones rápidas sin apego emocional al diseño.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45;p16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Wireframes: El plano funcional del producto.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46;p16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51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Google Shape;152;p17" descr="image.png"/>
          <p:cNvPicPr/>
          <p:nvPr/>
        </p:nvPicPr>
        <p:blipFill>
          <a:blip r:embed="rId2"/>
          <a:stretch/>
        </p:blipFill>
        <p:spPr>
          <a:xfrm>
            <a:off x="581040" y="1944720"/>
            <a:ext cx="522900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153;p17" descr="image.png"/>
          <p:cNvPicPr/>
          <p:nvPr/>
        </p:nvPicPr>
        <p:blipFill>
          <a:blip r:embed="rId3"/>
          <a:stretch/>
        </p:blipFill>
        <p:spPr>
          <a:xfrm>
            <a:off x="581040" y="1944720"/>
            <a:ext cx="522900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Google Shape;154;p17"/>
          <p:cNvSpPr/>
          <p:nvPr/>
        </p:nvSpPr>
        <p:spPr>
          <a:xfrm>
            <a:off x="6286680" y="316296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55;p17"/>
          <p:cNvSpPr/>
          <p:nvPr/>
        </p:nvSpPr>
        <p:spPr>
          <a:xfrm>
            <a:off x="6381720" y="3164040"/>
            <a:ext cx="52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Propósito: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Validar el aspecto visual y la identidad de marca.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56;p17"/>
          <p:cNvSpPr/>
          <p:nvPr/>
        </p:nvSpPr>
        <p:spPr>
          <a:xfrm>
            <a:off x="6286680" y="343728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57;p17"/>
          <p:cNvSpPr/>
          <p:nvPr/>
        </p:nvSpPr>
        <p:spPr>
          <a:xfrm>
            <a:off x="6381720" y="3438360"/>
            <a:ext cx="52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Fidelidad: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Alta. Colores reales, tipografía e iconografía.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8;p17"/>
          <p:cNvSpPr/>
          <p:nvPr/>
        </p:nvSpPr>
        <p:spPr>
          <a:xfrm>
            <a:off x="6286680" y="371160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59;p17"/>
          <p:cNvSpPr/>
          <p:nvPr/>
        </p:nvSpPr>
        <p:spPr>
          <a:xfrm>
            <a:off x="6381720" y="3712680"/>
            <a:ext cx="52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Foco: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UI Design, estética y consistencia visual.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0;p17"/>
          <p:cNvSpPr/>
          <p:nvPr/>
        </p:nvSpPr>
        <p:spPr>
          <a:xfrm>
            <a:off x="6286680" y="3985920"/>
            <a:ext cx="95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1;p17"/>
          <p:cNvSpPr/>
          <p:nvPr/>
        </p:nvSpPr>
        <p:spPr>
          <a:xfrm>
            <a:off x="6381720" y="3987000"/>
            <a:ext cx="522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Valor: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Facilita la aprobación de stakeholders al mostrar el resultado final.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2;p17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Mockups: La representación visual definitiva.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63;p17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68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69;p18"/>
          <p:cNvSpPr/>
          <p:nvPr/>
        </p:nvSpPr>
        <p:spPr>
          <a:xfrm>
            <a:off x="581040" y="2172600"/>
            <a:ext cx="11029680" cy="3354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Google Shape;170;p18"/>
          <p:cNvGraphicFramePr/>
          <p:nvPr/>
        </p:nvGraphicFramePr>
        <p:xfrm>
          <a:off x="581040" y="2172600"/>
          <a:ext cx="11029680" cy="3354120"/>
        </p:xfrm>
        <a:graphic>
          <a:graphicData uri="http://schemas.openxmlformats.org/drawingml/2006/table">
            <a:tbl>
              <a:tblPr/>
              <a:tblGrid>
                <a:gridCol w="2102040"/>
                <a:gridCol w="4766040"/>
                <a:gridCol w="4161600"/>
              </a:tblGrid>
              <a:tr h="6706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Atributo</a:t>
                      </a:r>
                      <a:endParaRPr lang="es-SV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Wireframe (Boceto)</a:t>
                      </a:r>
                      <a:endParaRPr lang="es-SV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Mockup (Maqueta)</a:t>
                      </a:r>
                      <a:endParaRPr lang="es-SV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706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Color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Escala de grises (Blanco y Negro)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Paleta de marca completa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6706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Imágenes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Placeholders (Cajas con X)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Fotografías y gráficos finales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6706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Tipografía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Genérica (San Serif básica)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Fuentes de marca definitivas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6706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Audiencia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UX Designers y Desarrolladores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Clientes y Stakeholders</a:t>
                      </a:r>
                      <a:endParaRPr lang="es-SV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71;p18"/>
          <p:cNvSpPr/>
          <p:nvPr/>
        </p:nvSpPr>
        <p:spPr>
          <a:xfrm>
            <a:off x="581040" y="2853720"/>
            <a:ext cx="2101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2;p18"/>
          <p:cNvSpPr/>
          <p:nvPr/>
        </p:nvSpPr>
        <p:spPr>
          <a:xfrm>
            <a:off x="2683080" y="2853720"/>
            <a:ext cx="4765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3;p18"/>
          <p:cNvSpPr/>
          <p:nvPr/>
        </p:nvSpPr>
        <p:spPr>
          <a:xfrm>
            <a:off x="7449120" y="2853720"/>
            <a:ext cx="416124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4;p18"/>
          <p:cNvSpPr/>
          <p:nvPr/>
        </p:nvSpPr>
        <p:spPr>
          <a:xfrm>
            <a:off x="581040" y="3518280"/>
            <a:ext cx="2101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75;p18"/>
          <p:cNvSpPr/>
          <p:nvPr/>
        </p:nvSpPr>
        <p:spPr>
          <a:xfrm>
            <a:off x="2683080" y="3518280"/>
            <a:ext cx="4765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76;p18"/>
          <p:cNvSpPr/>
          <p:nvPr/>
        </p:nvSpPr>
        <p:spPr>
          <a:xfrm>
            <a:off x="7449120" y="3518280"/>
            <a:ext cx="416124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77;p18"/>
          <p:cNvSpPr/>
          <p:nvPr/>
        </p:nvSpPr>
        <p:spPr>
          <a:xfrm>
            <a:off x="581040" y="4183200"/>
            <a:ext cx="2101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78;p18"/>
          <p:cNvSpPr/>
          <p:nvPr/>
        </p:nvSpPr>
        <p:spPr>
          <a:xfrm>
            <a:off x="2683080" y="4183200"/>
            <a:ext cx="4765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79;p18"/>
          <p:cNvSpPr/>
          <p:nvPr/>
        </p:nvSpPr>
        <p:spPr>
          <a:xfrm>
            <a:off x="7449120" y="4183200"/>
            <a:ext cx="416124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80;p18"/>
          <p:cNvSpPr/>
          <p:nvPr/>
        </p:nvSpPr>
        <p:spPr>
          <a:xfrm>
            <a:off x="581040" y="4848120"/>
            <a:ext cx="2101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81;p18"/>
          <p:cNvSpPr/>
          <p:nvPr/>
        </p:nvSpPr>
        <p:spPr>
          <a:xfrm>
            <a:off x="2683080" y="4848120"/>
            <a:ext cx="4765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82;p18"/>
          <p:cNvSpPr/>
          <p:nvPr/>
        </p:nvSpPr>
        <p:spPr>
          <a:xfrm>
            <a:off x="7449120" y="4848120"/>
            <a:ext cx="416124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83;p18"/>
          <p:cNvSpPr/>
          <p:nvPr/>
        </p:nvSpPr>
        <p:spPr>
          <a:xfrm>
            <a:off x="581040" y="5513040"/>
            <a:ext cx="2101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84;p18"/>
          <p:cNvSpPr/>
          <p:nvPr/>
        </p:nvSpPr>
        <p:spPr>
          <a:xfrm>
            <a:off x="2683080" y="5513040"/>
            <a:ext cx="476568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85;p18"/>
          <p:cNvSpPr/>
          <p:nvPr/>
        </p:nvSpPr>
        <p:spPr>
          <a:xfrm>
            <a:off x="7449120" y="5513040"/>
            <a:ext cx="4161240" cy="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86;p18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Diferencias críticas por categoría de diseño.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87;p18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92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193;p19" descr="image.png"/>
          <p:cNvPicPr/>
          <p:nvPr/>
        </p:nvPicPr>
        <p:blipFill>
          <a:blip r:embed="rId2"/>
          <a:stretch/>
        </p:blipFill>
        <p:spPr>
          <a:xfrm>
            <a:off x="6095880" y="9360"/>
            <a:ext cx="6086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Google Shape;194;p19"/>
          <p:cNvSpPr/>
          <p:nvPr/>
        </p:nvSpPr>
        <p:spPr>
          <a:xfrm>
            <a:off x="581040" y="3267000"/>
            <a:ext cx="4943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Un </a:t>
            </a: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Wireframe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es como el plano de una casa; define dónde van las tuberías y las vigas maestras.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95;p19"/>
          <p:cNvSpPr/>
          <p:nvPr/>
        </p:nvSpPr>
        <p:spPr>
          <a:xfrm>
            <a:off x="581040" y="3815640"/>
            <a:ext cx="4943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Un </a:t>
            </a: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Mockup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es el modelo arquitectónico 3D terminado; muestra el color de las paredes y la textura del suelo.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96;p19"/>
          <p:cNvSpPr/>
          <p:nvPr/>
        </p:nvSpPr>
        <p:spPr>
          <a:xfrm>
            <a:off x="581040" y="4364280"/>
            <a:ext cx="4943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Diseñar visuales sin una estructura sólida es como pintar una casa que no tiene cimientos.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97;p19"/>
          <p:cNvSpPr/>
          <p:nvPr/>
        </p:nvSpPr>
        <p:spPr>
          <a:xfrm>
            <a:off x="771480" y="1964160"/>
            <a:ext cx="4990320" cy="9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La analogía de la construcción.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98;p19"/>
          <p:cNvSpPr/>
          <p:nvPr/>
        </p:nvSpPr>
        <p:spPr>
          <a:xfrm>
            <a:off x="581040" y="1964160"/>
            <a:ext cx="56880" cy="921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203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204;p20" descr="image.png"/>
          <p:cNvPicPr/>
          <p:nvPr/>
        </p:nvPicPr>
        <p:blipFill>
          <a:blip r:embed="rId2"/>
          <a:stretch/>
        </p:blipFill>
        <p:spPr>
          <a:xfrm>
            <a:off x="581040" y="2424960"/>
            <a:ext cx="3485880" cy="28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205;p20" descr="image.png"/>
          <p:cNvPicPr/>
          <p:nvPr/>
        </p:nvPicPr>
        <p:blipFill>
          <a:blip r:embed="rId3"/>
          <a:stretch/>
        </p:blipFill>
        <p:spPr>
          <a:xfrm>
            <a:off x="4352760" y="2424960"/>
            <a:ext cx="3485880" cy="28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Google Shape;206;p20" descr="image.png"/>
          <p:cNvPicPr/>
          <p:nvPr/>
        </p:nvPicPr>
        <p:blipFill>
          <a:blip r:embed="rId4"/>
          <a:stretch/>
        </p:blipFill>
        <p:spPr>
          <a:xfrm>
            <a:off x="8124840" y="2424960"/>
            <a:ext cx="3485880" cy="284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Google Shape;207;p20"/>
          <p:cNvSpPr/>
          <p:nvPr/>
        </p:nvSpPr>
        <p:spPr>
          <a:xfrm>
            <a:off x="903960" y="3567960"/>
            <a:ext cx="2840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Claridad Cognitiva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08;p20"/>
          <p:cNvSpPr/>
          <p:nvPr/>
        </p:nvSpPr>
        <p:spPr>
          <a:xfrm>
            <a:off x="971640" y="3787200"/>
            <a:ext cx="270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Los wireframes eliminan el sesgo estético, permitiendo que el equipo se centre en resolver problemas de negocio.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09;p20"/>
          <p:cNvSpPr/>
          <p:nvPr/>
        </p:nvSpPr>
        <p:spPr>
          <a:xfrm>
            <a:off x="4675680" y="3567960"/>
            <a:ext cx="2840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Precisión Técnica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10;p20"/>
          <p:cNvSpPr/>
          <p:nvPr/>
        </p:nvSpPr>
        <p:spPr>
          <a:xfrm>
            <a:off x="4743360" y="3787200"/>
            <a:ext cx="270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Los desarrolladores estiman mejor el esfuerzo basándose en la lógica estructural de los wireframes.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11;p20"/>
          <p:cNvSpPr/>
          <p:nvPr/>
        </p:nvSpPr>
        <p:spPr>
          <a:xfrm>
            <a:off x="8447760" y="3567960"/>
            <a:ext cx="2840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Garantía de Marca</a:t>
            </a:r>
            <a:endParaRPr lang="es-SV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12;p20"/>
          <p:cNvSpPr/>
          <p:nvPr/>
        </p:nvSpPr>
        <p:spPr>
          <a:xfrm>
            <a:off x="8515440" y="3787200"/>
            <a:ext cx="270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Los mockups aseguran que la visión de marca se ejecute perfectamente en el entorno digital.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Google Shape;213;p20" descr="image.png"/>
          <p:cNvPicPr/>
          <p:nvPr/>
        </p:nvPicPr>
        <p:blipFill>
          <a:blip r:embed="rId5"/>
          <a:stretch/>
        </p:blipFill>
        <p:spPr>
          <a:xfrm>
            <a:off x="2152800" y="2863080"/>
            <a:ext cx="34272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Google Shape;214;p20" descr="image.png"/>
          <p:cNvPicPr/>
          <p:nvPr/>
        </p:nvPicPr>
        <p:blipFill>
          <a:blip r:embed="rId6"/>
          <a:stretch/>
        </p:blipFill>
        <p:spPr>
          <a:xfrm>
            <a:off x="5810400" y="2863080"/>
            <a:ext cx="57132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Google Shape;215;p20" descr="image.png"/>
          <p:cNvPicPr/>
          <p:nvPr/>
        </p:nvPicPr>
        <p:blipFill>
          <a:blip r:embed="rId7"/>
          <a:stretch/>
        </p:blipFill>
        <p:spPr>
          <a:xfrm>
            <a:off x="9667800" y="2863080"/>
            <a:ext cx="3996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Google Shape;216;p20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Comunicación efectiva entre equipos.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17;p20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222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223;p21" descr="image.png"/>
          <p:cNvPicPr/>
          <p:nvPr/>
        </p:nvPicPr>
        <p:blipFill>
          <a:blip r:embed="rId2"/>
          <a:stretch/>
        </p:blipFill>
        <p:spPr>
          <a:xfrm>
            <a:off x="581040" y="1423080"/>
            <a:ext cx="11029680" cy="48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Google Shape;224;p21"/>
          <p:cNvSpPr/>
          <p:nvPr/>
        </p:nvSpPr>
        <p:spPr>
          <a:xfrm>
            <a:off x="581040" y="4623480"/>
            <a:ext cx="11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Resolver problemas estructurales en la fase de </a:t>
            </a:r>
            <a:r>
              <a:rPr lang="en-US" sz="135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Wireframing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es exponencialmente más barato que hacerlo durante la fase de desarrollo.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25;p21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La iteración temprana reduce el retrabajo.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26;p21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231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Google Shape;232;p22"/>
          <p:cNvSpPr/>
          <p:nvPr/>
        </p:nvSpPr>
        <p:spPr>
          <a:xfrm>
            <a:off x="1809720" y="2391840"/>
            <a:ext cx="8572320" cy="155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30000"/>
              </a:lnSpc>
              <a:tabLst>
                <a:tab pos="0" algn="l"/>
              </a:tabLst>
            </a:pPr>
            <a:r>
              <a:rPr lang="en-US" sz="3150" b="0" i="1" u="none" strike="noStrike">
                <a:solidFill>
                  <a:srgbClr val="F8FAFC"/>
                </a:solidFill>
                <a:effectLst/>
                <a:uFillTx/>
                <a:latin typeface="Inter"/>
                <a:ea typeface="Inter"/>
              </a:rPr>
              <a:t> "La forma sigue a la función, pero un diseño visual impecable es lo que permite que el usuario confíe en esa función." </a:t>
            </a:r>
            <a:endParaRPr lang="es-SV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33;p22"/>
          <p:cNvSpPr/>
          <p:nvPr/>
        </p:nvSpPr>
        <p:spPr>
          <a:xfrm>
            <a:off x="4357800" y="4237560"/>
            <a:ext cx="3476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— Principio de Diseño UI/UX Moderno</a:t>
            </a:r>
            <a:endParaRPr lang="es-SV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38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Google Shape;239;p23" descr="image.png"/>
          <p:cNvPicPr/>
          <p:nvPr/>
        </p:nvPicPr>
        <p:blipFill>
          <a:blip r:embed="rId2"/>
          <a:stretch/>
        </p:blipFill>
        <p:spPr>
          <a:xfrm>
            <a:off x="9360" y="9360"/>
            <a:ext cx="12172680" cy="68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Google Shape;240;p23"/>
          <p:cNvSpPr/>
          <p:nvPr/>
        </p:nvSpPr>
        <p:spPr>
          <a:xfrm>
            <a:off x="2095560" y="2625120"/>
            <a:ext cx="8000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Colaboración Integral</a:t>
            </a:r>
            <a:endParaRPr lang="es-SV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41;p23"/>
          <p:cNvSpPr/>
          <p:nvPr/>
        </p:nvSpPr>
        <p:spPr>
          <a:xfrm>
            <a:off x="2286000" y="3501360"/>
            <a:ext cx="7619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9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8FAFC"/>
                </a:solidFill>
                <a:effectLst/>
                <a:uFillTx/>
                <a:latin typeface="Inter"/>
                <a:ea typeface="Inter"/>
              </a:rPr>
              <a:t>Uniendo estructura y estética para entregar productos digitales de clase mundial.</a:t>
            </a:r>
            <a:endParaRPr lang="es-SV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246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247;p24"/>
          <p:cNvSpPr/>
          <p:nvPr/>
        </p:nvSpPr>
        <p:spPr>
          <a:xfrm>
            <a:off x="305280" y="581040"/>
            <a:ext cx="1158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¿Preguntas?</a:t>
            </a:r>
            <a:endParaRPr lang="es-SV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48;p24"/>
          <p:cNvSpPr/>
          <p:nvPr/>
        </p:nvSpPr>
        <p:spPr>
          <a:xfrm>
            <a:off x="2286000" y="1685880"/>
            <a:ext cx="7619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9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Sesión de Preguntas y Respuestas sobre el Proceso de Diseño.</a:t>
            </a:r>
            <a:endParaRPr lang="es-SV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49;p24"/>
          <p:cNvSpPr/>
          <p:nvPr/>
        </p:nvSpPr>
        <p:spPr>
          <a:xfrm>
            <a:off x="581040" y="2527920"/>
            <a:ext cx="11029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info@tuempresa.com | www.tuempresa.com</a:t>
            </a:r>
            <a:endParaRPr lang="es-SV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254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Google Shape;255;p25"/>
          <p:cNvSpPr/>
          <p:nvPr/>
        </p:nvSpPr>
        <p:spPr>
          <a:xfrm>
            <a:off x="581040" y="2285280"/>
            <a:ext cx="11029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56;p25"/>
          <p:cNvSpPr/>
          <p:nvPr/>
        </p:nvSpPr>
        <p:spPr>
          <a:xfrm>
            <a:off x="581040" y="3069720"/>
            <a:ext cx="11029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57;p25"/>
          <p:cNvSpPr/>
          <p:nvPr/>
        </p:nvSpPr>
        <p:spPr>
          <a:xfrm>
            <a:off x="581040" y="3854520"/>
            <a:ext cx="11029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58;p25"/>
          <p:cNvSpPr/>
          <p:nvPr/>
        </p:nvSpPr>
        <p:spPr>
          <a:xfrm>
            <a:off x="581040" y="30603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59;p25"/>
          <p:cNvSpPr/>
          <p:nvPr/>
        </p:nvSpPr>
        <p:spPr>
          <a:xfrm>
            <a:off x="581040" y="30603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60;p25"/>
          <p:cNvSpPr/>
          <p:nvPr/>
        </p:nvSpPr>
        <p:spPr>
          <a:xfrm>
            <a:off x="581040" y="38451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61;p25"/>
          <p:cNvSpPr/>
          <p:nvPr/>
        </p:nvSpPr>
        <p:spPr>
          <a:xfrm>
            <a:off x="581040" y="38451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62;p25"/>
          <p:cNvSpPr/>
          <p:nvPr/>
        </p:nvSpPr>
        <p:spPr>
          <a:xfrm>
            <a:off x="581040" y="46299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63;p25"/>
          <p:cNvSpPr/>
          <p:nvPr/>
        </p:nvSpPr>
        <p:spPr>
          <a:xfrm>
            <a:off x="581040" y="46299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SV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Google Shape;264;p25" descr="image.png"/>
          <p:cNvPicPr/>
          <p:nvPr/>
        </p:nvPicPr>
        <p:blipFill>
          <a:blip r:embed="rId2"/>
          <a:stretch/>
        </p:blipFill>
        <p:spPr>
          <a:xfrm>
            <a:off x="581040" y="243468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Google Shape;265;p25"/>
          <p:cNvSpPr/>
          <p:nvPr/>
        </p:nvSpPr>
        <p:spPr>
          <a:xfrm>
            <a:off x="1676520" y="2427840"/>
            <a:ext cx="99342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https://images.surferseo.art/50ac1d9a-8b6f-4129-9d0c-00e7f60629a1.png</a:t>
            </a:r>
            <a:endParaRPr lang="es-SV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66;p25"/>
          <p:cNvSpPr/>
          <p:nvPr/>
        </p:nvSpPr>
        <p:spPr>
          <a:xfrm>
            <a:off x="1676520" y="2673720"/>
            <a:ext cx="9934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uxpilot.ai</a:t>
            </a:r>
            <a:endParaRPr lang="es-SV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Google Shape;267;p25" descr="image.png"/>
          <p:cNvPicPr/>
          <p:nvPr/>
        </p:nvPicPr>
        <p:blipFill>
          <a:blip r:embed="rId3"/>
          <a:stretch/>
        </p:blipFill>
        <p:spPr>
          <a:xfrm>
            <a:off x="581040" y="321948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Google Shape;268;p25"/>
          <p:cNvSpPr/>
          <p:nvPr/>
        </p:nvSpPr>
        <p:spPr>
          <a:xfrm>
            <a:off x="1676520" y="3212640"/>
            <a:ext cx="99342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https://landing.moqups.com/img/blog/low-fidelity-vs-high-fidelity.png</a:t>
            </a:r>
            <a:endParaRPr lang="es-SV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69;p25"/>
          <p:cNvSpPr/>
          <p:nvPr/>
        </p:nvSpPr>
        <p:spPr>
          <a:xfrm>
            <a:off x="1676520" y="3458520"/>
            <a:ext cx="9934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moqups.com</a:t>
            </a:r>
            <a:endParaRPr lang="es-SV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Google Shape;270;p25" descr="image.png"/>
          <p:cNvPicPr/>
          <p:nvPr/>
        </p:nvPicPr>
        <p:blipFill>
          <a:blip r:embed="rId4"/>
          <a:stretch/>
        </p:blipFill>
        <p:spPr>
          <a:xfrm>
            <a:off x="581040" y="400392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Google Shape;271;p25"/>
          <p:cNvSpPr/>
          <p:nvPr/>
        </p:nvSpPr>
        <p:spPr>
          <a:xfrm>
            <a:off x="1676520" y="3997440"/>
            <a:ext cx="99342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https://i.redd.it/j6zrzk90oxy11.jpg</a:t>
            </a:r>
            <a:endParaRPr lang="es-SV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72;p25"/>
          <p:cNvSpPr/>
          <p:nvPr/>
        </p:nvSpPr>
        <p:spPr>
          <a:xfrm>
            <a:off x="1676520" y="4243320"/>
            <a:ext cx="9934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www.reddit.com</a:t>
            </a:r>
            <a:endParaRPr lang="es-SV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Google Shape;273;p25" descr="image.png"/>
          <p:cNvPicPr/>
          <p:nvPr/>
        </p:nvPicPr>
        <p:blipFill>
          <a:blip r:embed="rId5"/>
          <a:stretch/>
        </p:blipFill>
        <p:spPr>
          <a:xfrm>
            <a:off x="581040" y="478872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Google Shape;274;p25"/>
          <p:cNvSpPr/>
          <p:nvPr/>
        </p:nvSpPr>
        <p:spPr>
          <a:xfrm>
            <a:off x="1676520" y="4782240"/>
            <a:ext cx="99342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https://res.cloudinary.com/emg-prod/image/upload/f_auto,q_auto/v1/HtmlPages/HtmlPage10131/Untitled_design_top</a:t>
            </a:r>
            <a:endParaRPr lang="es-SV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75;p25"/>
          <p:cNvSpPr/>
          <p:nvPr/>
        </p:nvSpPr>
        <p:spPr>
          <a:xfrm>
            <a:off x="1676520" y="5028120"/>
            <a:ext cx="9934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www.findcourses.co.uk</a:t>
            </a:r>
            <a:endParaRPr lang="es-SV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76;p25"/>
          <p:cNvSpPr/>
          <p:nvPr/>
        </p:nvSpPr>
        <p:spPr>
          <a:xfrm>
            <a:off x="771480" y="581040"/>
            <a:ext cx="113810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Image Sources</a:t>
            </a:r>
            <a:endParaRPr lang="es-SV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77;p25"/>
          <p:cNvSpPr/>
          <p:nvPr/>
        </p:nvSpPr>
        <p:spPr>
          <a:xfrm>
            <a:off x="581040" y="581040"/>
            <a:ext cx="56880" cy="460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es-SV</dc:language>
  <cp:lastModifiedBy/>
  <dcterms:modified xsi:type="dcterms:W3CDTF">2026-06-01T14:51:13Z</dcterms:modified>
  <cp:revision>1</cp:revision>
  <dc:subject/>
  <dc:title/>
</cp:coreProperties>
</file>